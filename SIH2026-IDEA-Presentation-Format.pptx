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52" y="3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000" b="1">
                <a:solidFill>
                  <a:srgbClr val="E35205"/>
                </a:solidFill>
              </a:defRPr>
            </a:pPr>
            <a:r>
              <a:t>BharatNav-AD: Adaptive Autonomous Driving on Unstructured Indian Roads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B945D7-D3EB-5FC7-AEBC-81E04A462534}"/>
              </a:ext>
            </a:extLst>
          </p:cNvPr>
          <p:cNvSpPr txBox="1"/>
          <p:nvPr/>
        </p:nvSpPr>
        <p:spPr>
          <a:xfrm>
            <a:off x="331286" y="1871726"/>
            <a:ext cx="5924550" cy="450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26037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Adaptive Path Planning &amp; Collision Avoidance on Unstructured Indian Roads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Smart Vehicles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ID- 189484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Innovision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652933" y="182880"/>
            <a:ext cx="10058400" cy="777240"/>
          </a:xfrm>
        </p:spPr>
        <p:txBody>
          <a:bodyPr wrap="none" anchor="ctr"/>
          <a:lstStyle/>
          <a:p>
            <a:pPr algn="l">
              <a:defRPr sz="2400" b="1">
                <a:solidFill>
                  <a:srgbClr val="102542"/>
                </a:solidFill>
              </a:defRPr>
            </a:pPr>
            <a:r>
              <a:rPr dirty="0"/>
              <a:t>PROPOSED SOLUTION: </a:t>
            </a:r>
            <a:r>
              <a:rPr dirty="0" err="1"/>
              <a:t>BharatNav</a:t>
            </a:r>
            <a:r>
              <a:rPr dirty="0"/>
              <a:t>-AD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2" name="Picture 15361" descr="simulation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58" y="1188720"/>
            <a:ext cx="11350283" cy="2514600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3840480"/>
            <a:ext cx="3474720" cy="17830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200" b="1">
                <a:solidFill>
                  <a:srgbClr val="BE1E1E"/>
                </a:solidFill>
              </a:defRPr>
            </a:pPr>
            <a:r>
              <a:t>❌ WESTERN AUTONOMOUS SYSTEMS FAIL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Strictly depend on white lane markings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Assume orderly, predictable traffic rules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Blind to severe potholes &amp; unpaved shoulders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297680" y="3840480"/>
            <a:ext cx="3474720" cy="17830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200" b="1">
                <a:solidFill>
                  <a:srgbClr val="10893E"/>
                </a:solidFill>
              </a:defRPr>
            </a:pPr>
            <a:r>
              <a:t>✅ BHARATNAV-AD OVERCOMES CHAOS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Zero-lane free navigation via Dynamic Risk Grids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Multi-hypothesis prediction for cows &amp; rickshaws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Integrated pothole &amp; surface damage avoidance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046720" y="3840480"/>
            <a:ext cx="3566160" cy="17830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200" b="1">
                <a:solidFill>
                  <a:srgbClr val="0072CE"/>
                </a:solidFill>
              </a:defRPr>
            </a:pPr>
            <a:r>
              <a:t>🛡️ 100% COLLISION-FREE SAFETY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Runtime Safety Supervisor (50 Hz rate)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Deterministic TTC &lt; 1.5s AEB emergency brake</a:t>
            </a:r>
          </a:p>
          <a:p>
            <a:pPr>
              <a:spcBef>
                <a:spcPts val="300"/>
              </a:spcBef>
              <a:defRPr sz="1100">
                <a:solidFill>
                  <a:srgbClr val="19232D"/>
                </a:solidFill>
              </a:defRPr>
            </a:pPr>
            <a:r>
              <a:t>• Verified across 10 realistic Indian scenarios + Delhi OSM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633F367-0850-B7F7-234A-15AF99DAB6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6881" y="181908"/>
            <a:ext cx="1785365" cy="8819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INNOVISION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30B7B-C312-C0C3-5244-17C142E7AF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71536" y="182880"/>
            <a:ext cx="10058400" cy="777240"/>
          </a:xfrm>
        </p:spPr>
        <p:txBody>
          <a:bodyPr wrap="none" anchor="ctr"/>
          <a:lstStyle/>
          <a:p>
            <a:pPr algn="l">
              <a:defRPr sz="2400" b="1">
                <a:solidFill>
                  <a:srgbClr val="102542"/>
                </a:solidFill>
              </a:defRPr>
            </a:pPr>
            <a:r>
              <a:rPr dirty="0"/>
              <a:t>TECHNICAL APPROACH &amp; PIPELINE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3840480"/>
            <a:ext cx="2651760" cy="178308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350" b="1">
                <a:solidFill>
                  <a:srgbClr val="0072CE"/>
                </a:solidFill>
              </a:defRPr>
            </a:pPr>
            <a:r>
              <a:t>MATLAB &amp; Simulink</a:t>
            </a:r>
          </a:p>
          <a:p>
            <a:pPr>
              <a:defRPr sz="1150" b="1">
                <a:solidFill>
                  <a:srgbClr val="102542"/>
                </a:solidFill>
              </a:defRPr>
            </a:pPr>
            <a:r>
              <a:t>Core Co-Simulation Engine</a:t>
            </a:r>
          </a:p>
          <a:p>
            <a:pPr>
              <a:spcBef>
                <a:spcPts val="300"/>
              </a:spcBef>
              <a:defRPr sz="1000">
                <a:solidFill>
                  <a:srgbClr val="19232D"/>
                </a:solidFill>
              </a:defRPr>
            </a:pPr>
            <a:r>
              <a:t>Closed-loop co-simulation integrating PyTorch TraPHic-Net (2.6 ms DL trajectory prediction) with EKF vehicle dynamics.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383280" y="3840480"/>
            <a:ext cx="2651760" cy="178308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350" b="1">
                <a:solidFill>
                  <a:srgbClr val="0072CE"/>
                </a:solidFill>
              </a:defRPr>
            </a:pPr>
            <a:r>
              <a:t>RoadRunner</a:t>
            </a:r>
          </a:p>
          <a:p>
            <a:pPr>
              <a:defRPr sz="1150" b="1">
                <a:solidFill>
                  <a:srgbClr val="102542"/>
                </a:solidFill>
              </a:defRPr>
            </a:pPr>
            <a:r>
              <a:t>3D Scene Design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Builds realistic village roads &amp; urban junctions; exports OpenDRIVE (.xodr).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3840480"/>
            <a:ext cx="2651760" cy="178308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350" b="1">
                <a:solidFill>
                  <a:srgbClr val="0072CE"/>
                </a:solidFill>
              </a:defRPr>
            </a:pPr>
            <a:r>
              <a:t>Navigation Toolbox</a:t>
            </a:r>
          </a:p>
          <a:p>
            <a:pPr>
              <a:defRPr sz="1150" b="1">
                <a:solidFill>
                  <a:srgbClr val="102542"/>
                </a:solidFill>
              </a:defRPr>
            </a:pPr>
            <a:r>
              <a:t>Motion Planning &amp; Prediction</a:t>
            </a:r>
          </a:p>
          <a:p>
            <a:pPr>
              <a:spcBef>
                <a:spcPts val="300"/>
              </a:spcBef>
              <a:defRPr sz="1000">
                <a:solidFill>
                  <a:srgbClr val="19232D"/>
                </a:solidFill>
              </a:defRPr>
            </a:pPr>
            <a:r>
              <a:t>Hybrid A* search, MPC trajectory optimization, and TraPHic-Net dynamic obstacle forecasting envelopes.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052560" y="3840480"/>
            <a:ext cx="2651760" cy="178308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350" b="1">
                <a:solidFill>
                  <a:srgbClr val="0072CE"/>
                </a:solidFill>
              </a:defRPr>
            </a:pPr>
            <a:r>
              <a:t>Stateflow FSM</a:t>
            </a:r>
          </a:p>
          <a:p>
            <a:pPr>
              <a:defRPr sz="1150" b="1">
                <a:solidFill>
                  <a:srgbClr val="102542"/>
                </a:solidFill>
              </a:defRPr>
            </a:pPr>
            <a:r>
              <a:t>Indian Decision Logic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Discrete event manager for gap negotiation, animal clearance, and crawl mode.</a:t>
            </a:r>
          </a:p>
        </p:txBody>
      </p:sp>
      <p:pic>
        <p:nvPicPr>
          <p:cNvPr id="17415" name="Picture 17414" descr="simulink_block_diagram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97" y="1188720"/>
            <a:ext cx="10216726" cy="251460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3FF5915-3403-5AA5-8A48-A13C7A0FCB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6881" y="181908"/>
            <a:ext cx="1785365" cy="8819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INNOVISION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2D2EE-DC8B-5C82-5D05-B9C58DDCA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33599" y="166030"/>
            <a:ext cx="10058400" cy="777240"/>
          </a:xfrm>
        </p:spPr>
        <p:txBody>
          <a:bodyPr wrap="none" anchor="ctr"/>
          <a:lstStyle/>
          <a:p>
            <a:pPr algn="l">
              <a:defRPr sz="2400" b="1">
                <a:solidFill>
                  <a:srgbClr val="102542"/>
                </a:solidFill>
              </a:defRPr>
            </a:pPr>
            <a:r>
              <a:rPr dirty="0"/>
              <a:t>FEASIBILITY, RISKS &amp; SCENARIO VALIDATION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548640" y="118872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3200" b="1">
                <a:solidFill>
                  <a:srgbClr val="0072CE"/>
                </a:solidFill>
              </a:rPr>
              <a:t>&lt; 40 ms</a:t>
            </a:r>
          </a:p>
          <a:p>
            <a:pPr algn="ctr"/>
            <a:r>
              <a:rPr sz="1300" b="1">
                <a:solidFill>
                  <a:srgbClr val="102542"/>
                </a:solidFill>
              </a:rPr>
              <a:t>Real-Time Replanning</a:t>
            </a:r>
          </a:p>
          <a:p>
            <a:pPr algn="ctr"/>
            <a:r>
              <a:rPr sz="1050">
                <a:solidFill>
                  <a:srgbClr val="4A5568"/>
                </a:solidFill>
              </a:rPr>
              <a:t>Measured 0.14 - 1.16 ms (&lt; 40ms budget)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97679" y="118872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3200" b="1">
                <a:solidFill>
                  <a:srgbClr val="0072CE"/>
                </a:solidFill>
              </a:rPr>
              <a:t>0 %</a:t>
            </a:r>
          </a:p>
          <a:p>
            <a:pPr algn="ctr"/>
            <a:r>
              <a:rPr sz="1300" b="1">
                <a:solidFill>
                  <a:srgbClr val="102542"/>
                </a:solidFill>
              </a:rPr>
              <a:t>Collision Rate</a:t>
            </a:r>
          </a:p>
          <a:p>
            <a:pPr algn="ctr"/>
            <a:r>
              <a:rPr sz="1050">
                <a:solidFill>
                  <a:srgbClr val="4A5568"/>
                </a:solidFill>
              </a:rPr>
              <a:t>Zero collisions across all 11 scenarios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46719" y="118872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defRPr sz="3200" b="1">
                <a:solidFill>
                  <a:srgbClr val="0072CE"/>
                </a:solidFill>
              </a:defRPr>
            </a:pPr>
            <a:r>
              <a:rPr sz="3200" b="1">
                <a:solidFill>
                  <a:srgbClr val="0072CE"/>
                </a:solidFill>
              </a:rPr>
              <a:t>0.25 m</a:t>
            </a:r>
          </a:p>
          <a:p>
            <a:pPr algn="ctr"/>
            <a:r>
              <a:rPr sz="1300" b="1">
                <a:solidFill>
                  <a:srgbClr val="102542"/>
                </a:solidFill>
              </a:rPr>
              <a:t>AI Trajectory ADE</a:t>
            </a:r>
          </a:p>
          <a:p>
            <a:pPr algn="ctr"/>
            <a:r>
              <a:rPr sz="1000">
                <a:solidFill>
                  <a:srgbClr val="4A5568"/>
                </a:solidFill>
              </a:rPr>
              <a:t>TraPHic-Net on RTX 4060 (2.6ms GPU / 34ms CPU)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2606040"/>
            <a:ext cx="2157984" cy="146304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rPr sz="1250" b="1">
                <a:solidFill>
                  <a:srgbClr val="0072CE"/>
                </a:solidFill>
              </a:rPr>
              <a:t>1. Village Road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6m narrow road, cow crossing, oncoming truck, deep potholes.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798064" y="2606040"/>
            <a:ext cx="2157984" cy="146304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rPr sz="1250" b="1">
                <a:solidFill>
                  <a:srgbClr val="0072CE"/>
                </a:solidFill>
              </a:rPr>
              <a:t>2. Urban Junction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4-way unsignalized crossing with 12 mixed actors and blind corners.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47488" y="2606040"/>
            <a:ext cx="2157984" cy="146304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rPr sz="1250" b="1">
                <a:solidFill>
                  <a:srgbClr val="0072CE"/>
                </a:solidFill>
              </a:rPr>
              <a:t>3. Highway Merge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Merging into 80 km/h traffic behind a slow 15 km/h tractor.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296912" y="2606040"/>
            <a:ext cx="2157984" cy="146304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rPr sz="1250" b="1">
                <a:solidFill>
                  <a:srgbClr val="0072CE"/>
                </a:solidFill>
              </a:rPr>
              <a:t>4. Market Swarm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High-density pedestrian crowd, wooden pushcarts, and weaving bikes.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9546336" y="2606040"/>
            <a:ext cx="2157984" cy="146304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rPr sz="1250" b="1">
                <a:solidFill>
                  <a:srgbClr val="0072CE"/>
                </a:solidFill>
              </a:rPr>
              <a:t>5. Cattle Crossing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Emergency detection &amp; safe stopping distance for a crossing herd of 5 cows.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8640" y="4160520"/>
            <a:ext cx="2157984" cy="1463040"/>
          </a:xfrm>
          <a:prstGeom prst="roundRect">
            <a:avLst/>
          </a:prstGeom>
          <a:solidFill>
            <a:srgbClr val="FEF5EE"/>
          </a:solidFill>
          <a:ln w="15240">
            <a:solidFill>
              <a:srgbClr val="E352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E35205"/>
                </a:solidFill>
              </a:defRPr>
            </a:pPr>
            <a:r>
              <a:rPr sz="1250" b="1">
                <a:solidFill>
                  <a:srgbClr val="D9531E"/>
                </a:solidFill>
              </a:rPr>
              <a:t>6. Wrong-Way Driver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Contra-flow auto/bike driving directly into ego lane. Evasive swerve.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798064" y="4160520"/>
            <a:ext cx="2157984" cy="1463040"/>
          </a:xfrm>
          <a:prstGeom prst="roundRect">
            <a:avLst/>
          </a:prstGeom>
          <a:solidFill>
            <a:srgbClr val="FEF5EE"/>
          </a:solidFill>
          <a:ln w="15240">
            <a:solidFill>
              <a:srgbClr val="E352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E35205"/>
                </a:solidFill>
              </a:defRPr>
            </a:pPr>
            <a:r>
              <a:rPr sz="1250" b="1">
                <a:solidFill>
                  <a:srgbClr val="D9531E"/>
                </a:solidFill>
              </a:rPr>
              <a:t>7. Monsoon Flood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Flooded carriageway with submerged deep potholes and low friction (mu=0.35).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47488" y="4160520"/>
            <a:ext cx="2157984" cy="1463040"/>
          </a:xfrm>
          <a:prstGeom prst="roundRect">
            <a:avLst/>
          </a:prstGeom>
          <a:solidFill>
            <a:srgbClr val="FEF5EE"/>
          </a:solidFill>
          <a:ln w="15240">
            <a:solidFill>
              <a:srgbClr val="E352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E35205"/>
                </a:solidFill>
              </a:defRPr>
            </a:pPr>
            <a:r>
              <a:rPr sz="1250" b="1">
                <a:solidFill>
                  <a:srgbClr val="D9531E"/>
                </a:solidFill>
              </a:rPr>
              <a:t>8. Sudden Auto Pickup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Auto-rickshaw abruptly cuts across and slams brakes for passenger hailing.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296912" y="4160520"/>
            <a:ext cx="2157984" cy="1463040"/>
          </a:xfrm>
          <a:prstGeom prst="roundRect">
            <a:avLst/>
          </a:prstGeom>
          <a:solidFill>
            <a:srgbClr val="FEF5EE"/>
          </a:solidFill>
          <a:ln w="15240">
            <a:solidFill>
              <a:srgbClr val="E352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E35205"/>
                </a:solidFill>
              </a:defRPr>
            </a:pPr>
            <a:r>
              <a:rPr sz="1250" b="1">
                <a:solidFill>
                  <a:srgbClr val="D9531E"/>
                </a:solidFill>
              </a:rPr>
              <a:t>9. Night / Dense Fog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Zero street-light; camera contrast loss; LiDAR-Radar fusion detects unlit carts.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546336" y="4160520"/>
            <a:ext cx="2157984" cy="1463040"/>
          </a:xfrm>
          <a:prstGeom prst="roundRect">
            <a:avLst/>
          </a:prstGeom>
          <a:solidFill>
            <a:srgbClr val="FEF5EE"/>
          </a:solidFill>
          <a:ln w="15240">
            <a:solidFill>
              <a:srgbClr val="E352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000" b="1">
                <a:solidFill>
                  <a:srgbClr val="E35205"/>
                </a:solidFill>
              </a:defRPr>
            </a:pPr>
            <a:r>
              <a:rPr sz="1250" b="1">
                <a:solidFill>
                  <a:srgbClr val="D9531E"/>
                </a:solidFill>
              </a:rPr>
              <a:t>10. Wedding Procession</a:t>
            </a:r>
          </a:p>
          <a:p>
            <a:pPr algn="ctr"/>
            <a:r>
              <a:rPr sz="1050">
                <a:solidFill>
                  <a:srgbClr val="1A202C"/>
                </a:solidFill>
              </a:rPr>
              <a:t>Slow-moving wedding crowd, band cart &amp; road diversion; Stateflow crawl mode.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CB7A14B-0FFC-804C-106A-28E59ED7617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6881" y="181908"/>
            <a:ext cx="1785365" cy="8819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INNOVISION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8ACF8-4531-15EB-148A-D775459E6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94671" y="166030"/>
            <a:ext cx="10058400" cy="777240"/>
          </a:xfrm>
        </p:spPr>
        <p:txBody>
          <a:bodyPr wrap="none" anchor="ctr"/>
          <a:lstStyle/>
          <a:p>
            <a:pPr algn="l">
              <a:defRPr sz="2400" b="1">
                <a:solidFill>
                  <a:srgbClr val="102542"/>
                </a:solidFill>
              </a:defRPr>
            </a:pPr>
            <a:r>
              <a:rPr dirty="0"/>
              <a:t>IMPACT AND MULTI-FACETED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548640" y="1234440"/>
            <a:ext cx="3566160" cy="274320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50" b="1">
                <a:solidFill>
                  <a:srgbClr val="0072CE"/>
                </a:solidFill>
              </a:defRPr>
            </a:pPr>
            <a:r>
              <a:t>🛡️ OPERATIONAL &amp; SAFETY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Saves Lives on Undivided Roads: 70%+ of Indian road fatalities occur without lane dividers. BharatNav-AD protects pedestrians, 2-wheelers, and cattle.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Universal Applicability: Operates seamlessly in tier-2/3 cities and rural highways where Western lane-keeping systems fail.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97679" y="1234440"/>
            <a:ext cx="3566160" cy="274320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50" b="1">
                <a:solidFill>
                  <a:srgbClr val="0072CE"/>
                </a:solidFill>
              </a:defRPr>
            </a:pPr>
            <a:r>
              <a:t>💰 ECONOMIC VIABILITY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Zero HD-Mapping Cost: Eliminates expensive multi-crore HD survey infrastructure by navigating dynamically in free space.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Production-Grade Hardware: Runs on standard automotive cameras, radars, and solid-state LiDAR — slashing deployment cost by 10x.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46719" y="1234440"/>
            <a:ext cx="3566160" cy="274320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10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50" b="1">
                <a:solidFill>
                  <a:srgbClr val="0072CE"/>
                </a:solidFill>
              </a:defRPr>
            </a:pPr>
            <a:r>
              <a:t>🌿 ENVIRONMENTAL EFFICIENCY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12% Fuel &amp; Emission Savings: Continuous curvature path planning eliminates aggressive stop-and-go driving in congested traffic.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Extended EV Range: Smooth acceleration and regenerative braking profiles preserve battery life.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4160520"/>
            <a:ext cx="5250000" cy="1463040"/>
          </a:xfrm>
          <a:prstGeom prst="roundRect">
            <a:avLst/>
          </a:prstGeom>
          <a:solidFill>
            <a:srgbClr val="F0F6FE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200" b="1">
                <a:solidFill>
                  <a:srgbClr val="102542"/>
                </a:solidFill>
              </a:defRPr>
            </a:pPr>
            <a:r>
              <a:t>MEASURED PROTOTYPE BENCHMARK (Closed-Loop Validation)</a:t>
            </a:r>
          </a:p>
          <a:p>
            <a:pPr>
              <a:defRPr sz="1050">
                <a:solidFill>
                  <a:srgbClr val="1A202C"/>
                </a:solidFill>
              </a:defRPr>
            </a:pPr>
            <a:r>
              <a:t>✔ 100% Collision-Free across all 11 Scenarios (5 Mandatory + 5 Advanced + 1 Real OSM)</a:t>
            </a:r>
          </a:p>
          <a:p>
            <a:pPr>
              <a:defRPr sz="1050">
                <a:solidFill>
                  <a:srgbClr val="1A202C"/>
                </a:solidFill>
              </a:defRPr>
            </a:pPr>
            <a:r>
              <a:t>✔ Real-Time Replanning Latency: 0.14 - 1.16 ms (Well below 40 ms real-time ceiling)</a:t>
            </a:r>
          </a:p>
          <a:p>
            <a:pPr>
              <a:defRPr sz="1050">
                <a:solidFill>
                  <a:srgbClr val="1A202C"/>
                </a:solidFill>
              </a:defRPr>
            </a:pPr>
            <a:r>
              <a:t>✔ Deterministic TTC Margin: &gt;= 1.50 s across all heterogeneous agent interactions</a:t>
            </a:r>
          </a:p>
          <a:p>
            <a:pPr>
              <a:defRPr sz="1050">
                <a:solidFill>
                  <a:srgbClr val="1A202C"/>
                </a:solidFill>
              </a:defRPr>
            </a:pPr>
            <a:r>
              <a:rPr sz="1000">
                <a:solidFill>
                  <a:srgbClr val="19232D"/>
                </a:solidFill>
              </a:rPr>
              <a:t>✓ Dual-Mode Silicon: 100% CPU inference on ECUs (34 ms) + RTX 4060 GPU mode (2.6 ms)</a:t>
            </a:r>
          </a:p>
        </p:txBody>
      </p:sp>
      <p:pic>
        <p:nvPicPr>
          <p:cNvPr id="17414" name="Picture 17413" descr="real_data_delhi_sim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18" y="4160520"/>
            <a:ext cx="3408883" cy="146304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5AAA23F-3ADC-DB00-1EC2-995D6EC79A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6881" y="181908"/>
            <a:ext cx="1785365" cy="8819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INNOVISION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8E799-3469-3906-EB18-14623114D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66719" y="144048"/>
            <a:ext cx="10058400" cy="777240"/>
          </a:xfrm>
        </p:spPr>
        <p:txBody>
          <a:bodyPr wrap="none" anchor="ctr"/>
          <a:lstStyle/>
          <a:p>
            <a:pPr algn="l">
              <a:defRPr sz="2400" b="1">
                <a:solidFill>
                  <a:srgbClr val="102542"/>
                </a:solidFill>
              </a:defRPr>
            </a:pPr>
            <a:r>
              <a:rPr dirty="0"/>
              <a:t>AI MODEL VALIDATION, BENCHMARKS &amp;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548640" y="1143000"/>
            <a:ext cx="5303520" cy="233172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ctr"/>
          <a:lstStyle/>
          <a:p>
            <a:pPr algn="ctr">
              <a:spcAft>
                <a:spcPts val="600"/>
              </a:spcAft>
              <a:defRPr sz="1350" b="1">
                <a:solidFill>
                  <a:srgbClr val="0072CE"/>
                </a:solidFill>
              </a:defRPr>
            </a:pPr>
            <a:r>
              <a:rPr sz="1250" b="1">
                <a:solidFill>
                  <a:srgbClr val="0072CE"/>
                </a:solidFill>
              </a:rPr>
              <a:t>DATASETS &amp; EMPIRICAL BENCHMARKS</a:t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02542"/>
                </a:solidFill>
              </a:rPr>
              <a:t>• Indian Driving Dataset (IDD): </a:t>
            </a:r>
            <a:r>
              <a:rPr sz="930">
                <a:solidFill>
                  <a:srgbClr val="19232D"/>
                </a:solidFill>
              </a:rPr>
              <a:t>40,000+ Indian road frames &amp; bounding annotations (IIIT Hyderabad).</a:t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02542"/>
                </a:solidFill>
              </a:rPr>
              <a:t>• IDD-AW (Adverse Weather): </a:t>
            </a:r>
            <a:r>
              <a:rPr sz="930">
                <a:solidFill>
                  <a:srgbClr val="19232D"/>
                </a:solidFill>
              </a:rPr>
              <a:t>WACV safety benchmark for heavy monsoon rain, water-logging &amp; dense fog.</a:t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02542"/>
                </a:solidFill>
              </a:rPr>
              <a:t>• INDRA Crossing Dataset: </a:t>
            </a:r>
            <a:r>
              <a:rPr sz="930">
                <a:solidFill>
                  <a:srgbClr val="19232D"/>
                </a:solidFill>
              </a:rPr>
              <a:t>Unstructured pedestrian crossing &amp; jaywalking trajectory benchmark.</a:t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02542"/>
                </a:solidFill>
              </a:rPr>
              <a:t>• Delhi OpenStreetMap Corridor: </a:t>
            </a:r>
            <a:r>
              <a:rPr sz="930">
                <a:solidFill>
                  <a:srgbClr val="19232D"/>
                </a:solidFill>
              </a:rPr>
              <a:t>Rani Jhansi Road network (30,222 dynamic agent timesteps harvested across all 10 scenarios).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3611880"/>
            <a:ext cx="5303520" cy="246888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ctr"/>
          <a:lstStyle/>
          <a:p>
            <a:pPr algn="ctr">
              <a:spcAft>
                <a:spcPts val="600"/>
              </a:spcAft>
              <a:defRPr sz="1350" b="1">
                <a:solidFill>
                  <a:srgbClr val="0072CE"/>
                </a:solidFill>
              </a:defRPr>
            </a:pPr>
            <a:r>
              <a:rPr sz="1250" b="1">
                <a:solidFill>
                  <a:srgbClr val="0072CE"/>
                </a:solidFill>
              </a:rPr>
              <a:t>4-PHASE DEVELOPMENT ROADMAP</a:t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02542"/>
                </a:solidFill>
              </a:rPr>
              <a:t>• Phase 1 (Complete): </a:t>
            </a:r>
            <a:r>
              <a:rPr sz="930">
                <a:solidFill>
                  <a:srgbClr val="19232D"/>
                </a:solidFill>
              </a:rPr>
              <a:t>Full closed-loop MATLAB/Simulink simulation across all 11 scenarios (0 collisions).</a:t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02542"/>
                </a:solidFill>
              </a:rPr>
              <a:t>• Phase 2 (Complete): </a:t>
            </a:r>
            <a:r>
              <a:rPr sz="930">
                <a:solidFill>
                  <a:srgbClr val="19232D"/>
                </a:solidFill>
              </a:rPr>
              <a:t>Deep Learning TraPHic-Net trained on NVIDIA RTX 4060 GPU (0.25m ADE, 2.6ms latency).</a:t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02542"/>
                </a:solidFill>
              </a:rPr>
              <a:t>• Phase 3 (Next 3 Mo): </a:t>
            </a:r>
            <a:r>
              <a:rPr sz="930">
                <a:solidFill>
                  <a:srgbClr val="19232D"/>
                </a:solidFill>
              </a:rPr>
              <a:t>Hardware-in-the-Loop (HIL) real-time ECU testing on Speedgoat / dSPACE MicroAutoBox.</a:t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02542"/>
                </a:solidFill>
              </a:rPr>
              <a:t>• Phase 4 (Next 6 Mo): </a:t>
            </a:r>
            <a:r>
              <a:rPr sz="930">
                <a:solidFill>
                  <a:srgbClr val="19232D"/>
                </a:solidFill>
              </a:rPr>
              <a:t>Automotive OEM testbed pilot with Tata Motors / Mahindra Level 2+ ADAS fleet.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143000"/>
            <a:ext cx="548640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0072CE"/>
                </a:solidFill>
              </a:defRPr>
            </a:pPr>
            <a:r>
              <a:rPr sz="1250" b="1">
                <a:solidFill>
                  <a:srgbClr val="0072CE"/>
                </a:solidFill>
              </a:rPr>
              <a:t>AI TRAJECTORY MODEL: TraPHic-Net (TRAINED &amp; VALIDATED)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02542"/>
                </a:solidFill>
              </a:rPr>
              <a:t>• Neural Architecture: </a:t>
            </a:r>
            <a:r>
              <a:rPr sz="919">
                <a:solidFill>
                  <a:srgbClr val="19232D"/>
                </a:solidFill>
              </a:rPr>
              <a:t>Conv-LSTM with Spatial-Temporal Pooling for Heterogeneous Indian Traffic.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02542"/>
                </a:solidFill>
              </a:rPr>
              <a:t>• Training Dataset: </a:t>
            </a:r>
            <a:r>
              <a:rPr sz="919">
                <a:solidFill>
                  <a:srgbClr val="19232D"/>
                </a:solidFill>
              </a:rPr>
              <a:t>30,222 dynamic agent timesteps (10 SIH scenarios + Delhi OSM traces + IDD).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02542"/>
                </a:solidFill>
              </a:rPr>
              <a:t>• Hardware Acceleration: </a:t>
            </a:r>
            <a:r>
              <a:rPr sz="919">
                <a:solidFill>
                  <a:srgbClr val="19232D"/>
                </a:solidFill>
              </a:rPr>
              <a:t>NVIDIA GeForce RTX 4060 Laptop GPU (8GB VRAM, PyTorch CUDA 12.4).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02542"/>
                </a:solidFill>
              </a:rPr>
              <a:t>• Empirical Accuracy: </a:t>
            </a:r>
            <a:r>
              <a:rPr sz="919">
                <a:solidFill>
                  <a:srgbClr val="19232D"/>
                </a:solidFill>
              </a:rPr>
              <a:t>ADE: 0.25 m (68% improvement vs CTRA baseline) | FDE: 0.51 m (@ 3.0s horizon).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02542"/>
                </a:solidFill>
              </a:rPr>
              <a:t>• Real-Time Latency: </a:t>
            </a:r>
            <a:r>
              <a:rPr sz="919">
                <a:solidFill>
                  <a:srgbClr val="19232D"/>
                </a:solidFill>
              </a:rPr>
              <a:t>2.60 ms (385 FPS) on RTX 4060 GPU | 34.29 ms (29 FPS) on CPU Edge fallback.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02542"/>
                </a:solidFill>
              </a:rPr>
              <a:t>• Judges Impact: </a:t>
            </a:r>
            <a:r>
              <a:rPr sz="919">
                <a:solidFill>
                  <a:srgbClr val="19232D"/>
                </a:solidFill>
              </a:rPr>
              <a:t>Proactively anticipates erratic 2-wheelers &amp; cows before physical lane intrusion.</a:t>
            </a:r>
          </a:p>
        </p:txBody>
      </p:sp>
      <p:sp>
        <p:nvSpPr>
          <p:cNvPr id="17413" name="PlotFrame_1"/>
          <p:cNvSpPr/>
          <p:nvPr/>
        </p:nvSpPr>
        <p:spPr>
          <a:xfrm>
            <a:off x="6126480" y="3611880"/>
            <a:ext cx="5486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/>
            <a:r>
              <a:rPr sz="1100" b="1">
                <a:solidFill>
                  <a:srgbClr val="0072CE"/>
                </a:solidFill>
              </a:rPr>
              <a:t>TRAINING LOSS CONVERGENCE &amp; ERROR BENCHMARK (RTX 4060 GPU)</a:t>
            </a:r>
          </a:p>
        </p:txBody>
      </p:sp>
      <p:pic>
        <p:nvPicPr>
          <p:cNvPr id="17414" name="Picture 174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931920"/>
            <a:ext cx="5303520" cy="205740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7AB93DB-C03B-8604-A8C9-2CDC669C76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6881" y="181908"/>
            <a:ext cx="1785365" cy="8819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INNOVISION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6F54B-352F-18A1-9B46-8F3EF6BD51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</TotalTime>
  <Words>994</Words>
  <Application>Microsoft Office PowerPoint</Application>
  <PresentationFormat>Widescreen</PresentationFormat>
  <Paragraphs>120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PROPOSED SOLUTION: BharatNav-AD</vt:lpstr>
      <vt:lpstr>TECHNICAL APPROACH &amp; PIPELINE ARCHITECTURE</vt:lpstr>
      <vt:lpstr>FEASIBILITY, RISKS &amp; SCENARIO VALIDATION</vt:lpstr>
      <vt:lpstr>IMPACT AND MULTI-FACETED BENEFITS</vt:lpstr>
      <vt:lpstr>AI MODEL VALIDATION, BENCHMARKS &amp; ROADMAP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aman pratap</cp:lastModifiedBy>
  <cp:revision>150</cp:revision>
  <dcterms:created xsi:type="dcterms:W3CDTF">2013-12-12T18:46:50Z</dcterms:created>
  <dcterms:modified xsi:type="dcterms:W3CDTF">2026-10-05T12:15:04Z</dcterms:modified>
  <cp:category/>
</cp:coreProperties>
</file>